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0a797865db42bc" /><Relationship Type="http://schemas.openxmlformats.org/officeDocument/2006/relationships/extended-properties" Target="/docProps/app.xml" Id="Rfbd6df2acb74474f" /><Relationship Type="http://schemas.openxmlformats.org/officeDocument/2006/relationships/officeDocument" Target="/ppt/presentation.xml" Id="R363ac7e15dd2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3e2627f0e44d9"/>
  </p:sldMasterIdLst>
  <p:notesMasterIdLst>
    <p:notesMasterId xmlns:r="http://schemas.openxmlformats.org/officeDocument/2006/relationships" r:id="R04c5e1348a714308"/>
  </p:notesMasterIdLst>
  <p:sldIdLst>
    <p:sldId xmlns:r="http://schemas.openxmlformats.org/officeDocument/2006/relationships" id="256" r:id="Rc197e3679dbc413f"/>
    <p:sldId xmlns:r="http://schemas.openxmlformats.org/officeDocument/2006/relationships" id="257" r:id="R95bae59824e44024"/>
    <p:sldId xmlns:r="http://schemas.openxmlformats.org/officeDocument/2006/relationships" id="258" r:id="Rc07253b0d1f74c7b"/>
    <p:sldId xmlns:r="http://schemas.openxmlformats.org/officeDocument/2006/relationships" id="259" r:id="R809e4b3854e14b0e"/>
    <p:sldId xmlns:r="http://schemas.openxmlformats.org/officeDocument/2006/relationships" id="260" r:id="Rb055771e97594c34"/>
    <p:sldId xmlns:r="http://schemas.openxmlformats.org/officeDocument/2006/relationships" id="261" r:id="R086ac40ff0914069"/>
    <p:sldId xmlns:r="http://schemas.openxmlformats.org/officeDocument/2006/relationships" id="262" r:id="R03f389fed7414a4f"/>
    <p:sldId xmlns:r="http://schemas.openxmlformats.org/officeDocument/2006/relationships" id="263" r:id="R951f594764744988"/>
    <p:sldId xmlns:r="http://schemas.openxmlformats.org/officeDocument/2006/relationships" id="264" r:id="Raede313162ab453a"/>
    <p:sldId xmlns:r="http://schemas.openxmlformats.org/officeDocument/2006/relationships" id="265" r:id="Rba9a2a8a402a48df"/>
    <p:sldId xmlns:r="http://schemas.openxmlformats.org/officeDocument/2006/relationships" id="266" r:id="R97a512f7acea4a6e"/>
    <p:sldId xmlns:r="http://schemas.openxmlformats.org/officeDocument/2006/relationships" id="267" r:id="R63497e4ce0c64390"/>
    <p:sldId xmlns:r="http://schemas.openxmlformats.org/officeDocument/2006/relationships" id="268" r:id="R9007f95c12a5432a"/>
    <p:sldId xmlns:r="http://schemas.openxmlformats.org/officeDocument/2006/relationships" id="269" r:id="R507f08966d7d4700"/>
    <p:sldId xmlns:r="http://schemas.openxmlformats.org/officeDocument/2006/relationships" id="270" r:id="Re3e1ed89e2da49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2d4eb87a744a4b" /><Relationship Type="http://schemas.openxmlformats.org/officeDocument/2006/relationships/slideMaster" Target="/ppt/slideMasters/slideMaster1.xml" Id="R0b13e2627f0e44d9" /><Relationship Type="http://schemas.openxmlformats.org/officeDocument/2006/relationships/notesMaster" Target="/ppt/notesMasters/notesMaster1.xml" Id="R04c5e1348a714308" /><Relationship Type="http://schemas.openxmlformats.org/officeDocument/2006/relationships/presProps" Target="/ppt/presProps.xml" Id="Ra4513df009894f0b" /><Relationship Type="http://schemas.openxmlformats.org/officeDocument/2006/relationships/tableStyles" Target="/ppt/tableStyles.xml" Id="Rdc696d59960547d0" /><Relationship Type="http://schemas.openxmlformats.org/officeDocument/2006/relationships/slide" Target="/ppt/slides/slide1.xml" Id="Rc197e3679dbc413f" /><Relationship Type="http://schemas.openxmlformats.org/officeDocument/2006/relationships/slide" Target="/ppt/slides/slide2.xml" Id="R95bae59824e44024" /><Relationship Type="http://schemas.openxmlformats.org/officeDocument/2006/relationships/slide" Target="/ppt/slides/slide3.xml" Id="Rc07253b0d1f74c7b" /><Relationship Type="http://schemas.openxmlformats.org/officeDocument/2006/relationships/slide" Target="/ppt/slides/slide4.xml" Id="R809e4b3854e14b0e" /><Relationship Type="http://schemas.openxmlformats.org/officeDocument/2006/relationships/slide" Target="/ppt/slides/slide5.xml" Id="Rb055771e97594c34" /><Relationship Type="http://schemas.openxmlformats.org/officeDocument/2006/relationships/slide" Target="/ppt/slides/slide6.xml" Id="R086ac40ff0914069" /><Relationship Type="http://schemas.openxmlformats.org/officeDocument/2006/relationships/slide" Target="/ppt/slides/slide7.xml" Id="R03f389fed7414a4f" /><Relationship Type="http://schemas.openxmlformats.org/officeDocument/2006/relationships/slide" Target="/ppt/slides/slide8.xml" Id="R951f594764744988" /><Relationship Type="http://schemas.openxmlformats.org/officeDocument/2006/relationships/slide" Target="/ppt/slides/slide9.xml" Id="Raede313162ab453a" /><Relationship Type="http://schemas.openxmlformats.org/officeDocument/2006/relationships/slide" Target="/ppt/slides/slide10.xml" Id="Rba9a2a8a402a48df" /><Relationship Type="http://schemas.openxmlformats.org/officeDocument/2006/relationships/slide" Target="/ppt/slides/slide11.xml" Id="R97a512f7acea4a6e" /><Relationship Type="http://schemas.openxmlformats.org/officeDocument/2006/relationships/slide" Target="/ppt/slides/slide12.xml" Id="R63497e4ce0c64390" /><Relationship Type="http://schemas.openxmlformats.org/officeDocument/2006/relationships/slide" Target="/ppt/slides/slide13.xml" Id="R9007f95c12a5432a" /><Relationship Type="http://schemas.openxmlformats.org/officeDocument/2006/relationships/slide" Target="/ppt/slides/slide14.xml" Id="R507f08966d7d4700" /><Relationship Type="http://schemas.openxmlformats.org/officeDocument/2006/relationships/slide" Target="/ppt/slides/slide15.xml" Id="Re3e1ed89e2da49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63cf39f8f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4b472d99ff4945" /><Relationship Type="http://schemas.openxmlformats.org/officeDocument/2006/relationships/notesMaster" Target="/ppt/notesMasters/notesMaster1.xml" Id="Rd0edc04742324e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3057c895a74421" /><Relationship Type="http://schemas.openxmlformats.org/officeDocument/2006/relationships/notesMaster" Target="/ppt/notesMasters/notesMaster1.xml" Id="R2788c2983aa347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4efa5a1744e23" /><Relationship Type="http://schemas.openxmlformats.org/officeDocument/2006/relationships/notesMaster" Target="/ppt/notesMasters/notesMaster1.xml" Id="R31490907eeb54b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b43fdf2f224b3e" /><Relationship Type="http://schemas.openxmlformats.org/officeDocument/2006/relationships/notesMaster" Target="/ppt/notesMasters/notesMaster1.xml" Id="R90b371b2c449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6b2bab8d764baf" /><Relationship Type="http://schemas.openxmlformats.org/officeDocument/2006/relationships/notesMaster" Target="/ppt/notesMasters/notesMaster1.xml" Id="R21cabfac3f63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5ed0087d06453d" /><Relationship Type="http://schemas.openxmlformats.org/officeDocument/2006/relationships/notesMaster" Target="/ppt/notesMasters/notesMaster1.xml" Id="Rce14d4bea72048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1d8f09407e416b" /><Relationship Type="http://schemas.openxmlformats.org/officeDocument/2006/relationships/notesMaster" Target="/ppt/notesMasters/notesMaster1.xml" Id="R4dbff03148db46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9724f252cb4950" /><Relationship Type="http://schemas.openxmlformats.org/officeDocument/2006/relationships/notesMaster" Target="/ppt/notesMasters/notesMaster1.xml" Id="R162f7d9d7a5042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bb9e5527fa41ac" /><Relationship Type="http://schemas.openxmlformats.org/officeDocument/2006/relationships/notesMaster" Target="/ppt/notesMasters/notesMaster1.xml" Id="Ra8ec744a15e74d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e9c02bee474004" /><Relationship Type="http://schemas.openxmlformats.org/officeDocument/2006/relationships/notesMaster" Target="/ppt/notesMasters/notesMaster1.xml" Id="Re4351a53486f4b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f34cea495f417d" /><Relationship Type="http://schemas.openxmlformats.org/officeDocument/2006/relationships/notesMaster" Target="/ppt/notesMasters/notesMaster1.xml" Id="R521ed603f14840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f96a33b57f4c5d" /><Relationship Type="http://schemas.openxmlformats.org/officeDocument/2006/relationships/notesMaster" Target="/ppt/notesMasters/notesMaster1.xml" Id="R245330ee1db248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9a0ff7ef694083" /><Relationship Type="http://schemas.openxmlformats.org/officeDocument/2006/relationships/notesMaster" Target="/ppt/notesMasters/notesMaster1.xml" Id="R97df92fca5074a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1b599eacab4e40" /><Relationship Type="http://schemas.openxmlformats.org/officeDocument/2006/relationships/notesMaster" Target="/ppt/notesMasters/notesMaster1.xml" Id="Rf8d831e9ed7e4d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98844904b44d35" /><Relationship Type="http://schemas.openxmlformats.org/officeDocument/2006/relationships/notesMaster" Target="/ppt/notesMasters/notesMaster1.xml" Id="R98c989853562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开场：我们把一份简历从静态文件变成贯穿创作、岗位适配、面试追问和反馈迭代的统一资产。标题是产品定位，不代表已证明求职转化提升。内容依据：docs/履历星图_项目说明文档.docx（2026-09-24）。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用户面对的是连续任务，而常用工具按文档、模型聊天和录音工具分离。问题定义来自说明文档第 1 章。内容依据：docs/履历星图_项目说明文档.docx（2026-09-24）。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产品主线：结构化简历作为统一数据入口，AI 给出可采纳的优化建议；同一份简历进入模拟面试，上下文追问和报告反馈又推动下一次修改。内容依据：docs/履历星图_项目说明文档.docx（2026-09-24）。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简历引擎：pdfjs-dist 解析可选择文字 PDF，mammoth 提取 DOCX；导出含可选中文字 PDF、视觉 PDF/PNG 和 Word 可打开的 HTML 文字稿。扫描 PDF 暂不支持 OCR。内容依据：docs/履历星图_项目说明文档.docx（2026-09-24）。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模型端点需配置，默认可使用演示响应。展示建议以真实经历和岗位说明为输入，让评委看到针对性建议以及用户采纳和编辑过程。后端提示词由 AiPromptFactory 编排。内容依据：docs/履历星图_项目说明文档.docx（2026-09-24）。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InterviewService 将简历摘要、面试方向、已有问答和管理员人设提示词组织为上下文，生成下一题；结束时请求结构化 JSON 评估。模型异常有本地问题与评估兜底。内容依据：docs/履历星图_项目说明文档.docx（2026-09-24）。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技术细节：录音降采样至 16 kHz/16 bit 单声道 PCM，云端经 /interview/asr 转写；静音自动断句约 2600 ms，单段约 55 秒上限。TTS 队列与代次使过期播报失效。参数应以代码与说明文档为准。内容依据：docs/履历星图_项目说明文档.docx（2026-09-24）。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报告含综合分、逐题建议、能力雷达、表达节奏与填充词统计。可视化数值为示意，不能作为正式招聘测评结论。此页条形图仅用于解释维度。内容依据：docs/履历星图_项目说明文档.docx（2026-09-24）。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高级架构图按当前实现绘制，均为可编辑 PowerPoint 形状。特别注意：实际持久化是 JdbcTemplate + MySQL + Flyway；虽然 pom 声明 MyBatis-Plus，启动类排除其自动配置，不应把它写成当前数据访问主路径。外部模型与语音服务由服务端适配，密钥不发到浏览器。内容依据：docs/履历星图_项目说明文档.docx（2026-09-24）。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三泳道展示输入、决策、输出。浏览器识别和讯飞 ASR 双引擎；云端语音识别由后端 HMAC-SHA256 WebSocket 鉴权，约 40ms/帧发送。TTS 队列与代次消除旧播报，只有待答且播报结束后开麦。图中连线表示主要数据路径，异常路径写于底栏。内容依据：docs/履历星图_项目说明文档.docx（2026-09-24）。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逻辑 ER：用户一对多简历，简历一对多版本；面试记录关联用户与简历。数据库脚本 rl_ 命名，复杂内容 JSON 快照。当前 V1 脚本未声明数据库外键约束，因此此图是业务关系图。内容依据：docs/履历星图_项目说明文档.docx（2026-09-24）。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平台具备会员额度、兑换码、订单记录、内容审核和运营后台。可说具备商业化与运营基础，不应宣称已有营收或真实支付闭环。内容依据：docs/履历星图_项目说明文档.docx（2026-09-24）。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2026-09-24 文档记录：backend/mvn test -q 共 24 项，19 通过、5 跳过、0 失败；5 项来自 @Disabled 的 SecurityChainIntegrationTest，为避免默认配置连接真实数据库。不可说所有集成测试已通过。当前可核对本地 Surefire 报告。内容依据：docs/履历星图_项目说明文档.docx（2026-09-24）。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路线图来自文档第 2.5 节和第 7.2 节。RAG 可用 pgvector/Milvus，任务智能体串联岗位解析、经历提取、优化、追问和复盘；OCR、流式 ASR/TTS、可观测性和弹性部署均为规划。内容依据：docs/履历星图_项目说明文档.docx（2026-09-24）。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建议按文档 A.2 演示：PDF/DOCX 或模板生成简历；调整画布和岗位适配；版本差异、导出和分享；同一简历进入语音面试；展示报告；在后台调整面试设置。正式演示前完成真实服务配置与麦克风权限预检。内容依据：docs/履历星图_项目说明文档.docx（2026-09-24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1d5d1d37c47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6d3d5780747c6" /><Relationship Type="http://schemas.openxmlformats.org/officeDocument/2006/relationships/slideLayout" Target="/ppt/slideLayouts/slideLayout1.xml" Id="Rbbb4941dc9c64b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4941dc9c64b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41609b1604295" /><Relationship Type="http://schemas.openxmlformats.org/officeDocument/2006/relationships/notesSlide" Target="/ppt/notesSlides/notesSlide1.xml" Id="R9718d3df60ef4b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41f531fc844c1" /><Relationship Type="http://schemas.openxmlformats.org/officeDocument/2006/relationships/notesSlide" Target="/ppt/notesSlides/notesSlide2.xml" Id="R24fc14f9c6a0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d414823234aea" /><Relationship Type="http://schemas.openxmlformats.org/officeDocument/2006/relationships/notesSlide" Target="/ppt/notesSlides/notesSlide3.xml" Id="Ra67314e06b72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2a4f17fa44493" /><Relationship Type="http://schemas.openxmlformats.org/officeDocument/2006/relationships/notesSlide" Target="/ppt/notesSlides/notesSlide4.xml" Id="R3e0f22e8421c48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6ecc49f6342e0" /><Relationship Type="http://schemas.openxmlformats.org/officeDocument/2006/relationships/notesSlide" Target="/ppt/notesSlides/notesSlide5.xml" Id="R556498cb1ee34b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cac42b0ef47eb" /><Relationship Type="http://schemas.openxmlformats.org/officeDocument/2006/relationships/notesSlide" Target="/ppt/notesSlides/notesSlide6.xml" Id="Rc247a665812646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653d9137e4c65" /><Relationship Type="http://schemas.openxmlformats.org/officeDocument/2006/relationships/notesSlide" Target="/ppt/notesSlides/notesSlide7.xml" Id="Rb22eb511854b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51c27e362468f" /><Relationship Type="http://schemas.openxmlformats.org/officeDocument/2006/relationships/notesSlide" Target="/ppt/notesSlides/notesSlide8.xml" Id="R46b48df6e86743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a469a2ab2478f" /><Relationship Type="http://schemas.openxmlformats.org/officeDocument/2006/relationships/notesSlide" Target="/ppt/notesSlides/notesSlide9.xml" Id="Redeb75955d614b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cfe641036459c" /><Relationship Type="http://schemas.openxmlformats.org/officeDocument/2006/relationships/notesSlide" Target="/ppt/notesSlides/notesSlide10.xml" Id="R1e166bb4fff244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8dd4625274ff2" /><Relationship Type="http://schemas.openxmlformats.org/officeDocument/2006/relationships/notesSlide" Target="/ppt/notesSlides/notesSlide11.xml" Id="R3faa0e8e5cbd46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f1d099b334bd8" /><Relationship Type="http://schemas.openxmlformats.org/officeDocument/2006/relationships/notesSlide" Target="/ppt/notesSlides/notesSlide12.xml" Id="R44dce20e5b4747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8903abb384fd6" /><Relationship Type="http://schemas.openxmlformats.org/officeDocument/2006/relationships/notesSlide" Target="/ppt/notesSlides/notesSlide13.xml" Id="R3c35c796437e40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87791cf1e466d" /><Relationship Type="http://schemas.openxmlformats.org/officeDocument/2006/relationships/notesSlide" Target="/ppt/notesSlides/notesSlide14.xml" Id="Rbd3cd74698ed47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1caa12076488b" /><Relationship Type="http://schemas.openxmlformats.org/officeDocument/2006/relationships/notesSlide" Target="/ppt/notesSlides/notesSlide15.xml" Id="R67e86a179a8a45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1EB58-0BC9-4F43-8101-E4D7E0C8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050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B6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489DA-3654-453E-B92A-17072A88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90575"/>
            <a:ext cx="2038350" cy="2038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D6E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79BE7-16A1-4C03-8C6B-7616A62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466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EDBF7-678D-4D9E-9F6B-6807360F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BD58E-9C80-48D4-B23E-151644D9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E671D-0F1F-4D3B-A7F7-4BFA0910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905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E840F-B31D-4595-94A9-4425147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752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竞赛路演  ·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587BD-DC1E-423C-8F9C-EDCF3DFE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572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6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6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履历星图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F20A7-9767-4A14-9341-EBB46E72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62225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AI 驱动的多模态求职能力平台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6C9B2-A7C1-4AD0-9AC1-8BF0FD31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66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47BBA-A452-4EB2-AB0B-8C4FFE8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9810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让真实经历成为可编辑、可追问、可复盘的能力资产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53280-516F-4149-8FB3-8F769C9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959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写得好  ·  讲得清  ·  改得准</a:t>
            </a:r>
          </a:p>
        </p:txBody>
      </p:sp>
    </p:spTree>
    <p:extLst>
      <p:ext uri="{BB962C8B-B14F-4D97-AF65-F5344CB8AC3E}">
        <p14:creationId xmlns:p14="http://schemas.microsoft.com/office/powerpoint/2010/main" val="96446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C2789-4FE9-4F91-9D5B-C111E48D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30050-02FC-4526-AF69-F4E0E7E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6CFC0-9101-4614-885F-BA1CECDA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求职不是“生成简历”，而是持续证明自己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AD48C-A983-476F-9E82-15B5E51F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C70E0-F940-41E5-BF95-C8AEB54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C9DF3-14D2-41F4-BCCB-4F78C546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0C7D1-2651-4365-B046-16DEB324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00275"/>
            <a:ext cx="3524250" cy="253365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AC8BD-186E-44D4-ACE7-47DB979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00275"/>
            <a:ext cx="47625" cy="25336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19C89-76B7-4F91-9D96-3544FC8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3067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01  材料散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96B7B-60FF-4048-83B2-C10DE10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28925"/>
            <a:ext cx="3067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旧简历、项目经历、岗位要求反复搬运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38F8-15BE-4D56-98B5-DC5C4F4F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0275"/>
            <a:ext cx="3524250" cy="253365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18CC6-279C-4B1E-AC09-8A6914B5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0275"/>
            <a:ext cx="47625" cy="25336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F72CB-619C-4913-9827-61881CE2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3067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02  表达虚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F9D12-94D9-47CE-AB1D-982EA5AC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28925"/>
            <a:ext cx="3067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写得出经历，却写不出有证据的成果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0080A-CF0A-4D40-9F6C-A5709A57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00275"/>
            <a:ext cx="3524250" cy="2533650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09CF4-666E-4634-A7C7-63349D8D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00275"/>
            <a:ext cx="47625" cy="25336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74023-73AF-42F3-B891-7FCDCD63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71725"/>
            <a:ext cx="3067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03  练习浅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B9CFE-8288-4961-9AAE-D1800E5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28925"/>
            <a:ext cx="3067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背过面试题，却没被自己的经历追问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5518F-7F2C-42F6-8292-0DAAAA9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10871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87EEF-63FB-46EF-9BC3-D6AF99A7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743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核心命题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3A2C9-E686-42C7-A951-D391DDB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29225"/>
            <a:ext cx="853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如何让同一份真实经历，贯穿“写—投—练—改”？</a:t>
            </a:r>
          </a:p>
        </p:txBody>
      </p:sp>
    </p:spTree>
    <p:extLst>
      <p:ext uri="{BB962C8B-B14F-4D97-AF65-F5344CB8AC3E}">
        <p14:creationId xmlns:p14="http://schemas.microsoft.com/office/powerpoint/2010/main" val="1877963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E0CE9-6A4D-49DA-8FF0-0A98154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1B2E1-A191-40B7-9AD0-477AD761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PRODUCT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52D1F-9082-429F-A7FA-B703F62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一份简历，驱动一条完整的求职能力增长链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A94E3-94CC-42F9-8073-78E5552A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F205F-3680-486B-A60D-B99D9F90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0F6AC-47E6-4480-AE5F-603B3438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83CE9-6F5E-4416-9DDE-DEDCF8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2590800" cy="2409825"/>
          </a:xfrm>
          <a:prstGeom xmlns:a="http://schemas.openxmlformats.org/drawingml/2006/main" prst="roundRect">
            <a:avLst>
              <a:gd name="adj" fmla="val 71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DE1E7-0F12-42B5-A20E-997D769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574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F6742-A669-4466-9B96-1FFC1EE6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147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沉淀资产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C359F-FA48-4F7F-AE68-6EA770F4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9572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导入 / 模板 / 可视化编辑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8B104-482C-4495-97E0-45410E08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A9760-3720-45A9-B4FB-10169DF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813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21BED-9683-4824-8095-B808A1E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76475"/>
            <a:ext cx="2590800" cy="2409825"/>
          </a:xfrm>
          <a:prstGeom xmlns:a="http://schemas.openxmlformats.org/drawingml/2006/main" prst="roundRect">
            <a:avLst>
              <a:gd name="adj" fmla="val 71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289FD-E252-42ED-AAAD-FD6CF9A1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BC677-1002-43EE-9AAE-93D233A1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重构表达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6A98B-8A3A-45C7-99DE-72ABD0F5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9572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岗位适配 / AI 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63633-3179-4829-9D0B-A663AD43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575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F09EB-9EF6-41C6-8E4F-768E82DE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813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39049-F4C5-4D22-BD0C-EB1F27E3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76475"/>
            <a:ext cx="2590800" cy="2409825"/>
          </a:xfrm>
          <a:prstGeom xmlns:a="http://schemas.openxmlformats.org/drawingml/2006/main" prst="roundRect">
            <a:avLst>
              <a:gd name="adj" fmla="val 71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45FE6-56BA-4CC1-8699-451071A6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74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210C4-D2C9-4960-B760-EBA2B481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147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进入压力场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1D9FC-B8F7-4659-9B87-AE5F7E0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基于简历的动态追问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DB266-191A-4616-97DD-07C24D7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5757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6966AD-8150-4C4E-BFE1-6B9F0EF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813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6F1AE-98CC-4775-A8CB-1CD74072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76475"/>
            <a:ext cx="2590800" cy="2409825"/>
          </a:xfrm>
          <a:prstGeom xmlns:a="http://schemas.openxmlformats.org/drawingml/2006/main" prst="roundRect">
            <a:avLst>
              <a:gd name="adj" fmla="val 711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0D77E-FDD3-4BF4-9B27-58F08D5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574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2A5CBF-5121-4EC9-A556-B8F9415C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量化复盘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62303-BDA0-4923-B87A-C1B1F2D1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95725"/>
            <a:ext cx="2190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逐题反馈 / 版本迭代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EF1B9-A86E-499A-917D-01B8B8D9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9258300" cy="638175"/>
          </a:xfrm>
          <a:prstGeom xmlns:a="http://schemas.openxmlformats.org/drawingml/2006/main" prst="roundRect">
            <a:avLst>
              <a:gd name="adj" fmla="val 23881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CB701-4D01-48A1-8417-4CBAD226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14950"/>
            <a:ext cx="8743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简历不再是终点，而是岗位匹配与面试训练的上下文。</a:t>
            </a:r>
          </a:p>
        </p:txBody>
      </p:sp>
    </p:spTree>
    <p:extLst>
      <p:ext uri="{BB962C8B-B14F-4D97-AF65-F5344CB8AC3E}">
        <p14:creationId xmlns:p14="http://schemas.microsoft.com/office/powerpoint/2010/main" val="1596152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9A990-FA58-4759-A7E8-FBC07E6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0AE59-3677-4DBE-AE17-1A731650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RESUME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DDB47-557C-4024-9DC8-0B74618C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把“写简历”变成可持续迭代的内容工程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13076-C0E7-436C-ABDE-D9861C70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00450-A52C-452D-B8CF-4FA7FB39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48C85-B3E1-4D77-B4F6-370E48E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D17DD-6A04-4A67-9EBF-604517D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5248275" cy="3038475"/>
          </a:xfrm>
          <a:prstGeom xmlns:a="http://schemas.openxmlformats.org/drawingml/2006/main" prst="roundRect">
            <a:avLst>
              <a:gd name="adj" fmla="val 5016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35597-17CF-447D-994F-00D39110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47625" cy="30384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EBAF6-CB55-4A44-9B70-122DA8C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4791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输入不是空白页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76E94-0EE1-4247-A234-2BF8791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479107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模板 / TXT / 可选中文字 PDF / DOCX 起步；文本抽取后重构为可编辑章节。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E538E-02CA-4CB4-B115-ABAB5E6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05025"/>
            <a:ext cx="5600700" cy="3038475"/>
          </a:xfrm>
          <a:prstGeom xmlns:a="http://schemas.openxmlformats.org/drawingml/2006/main" prst="roundRect">
            <a:avLst>
              <a:gd name="adj" fmla="val 5016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5F791-CFD9-42EA-BCD4-1183437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05025"/>
            <a:ext cx="47625" cy="30384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2AF20-47A6-44AC-B82D-7F49A0A4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7647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输出不是一次性文件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83014-B204-4282-99EB-8974E2D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33675"/>
            <a:ext cx="51435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组件画布、实时预览、草稿与版本快照；支持增删改对比、回滚、分享与多格式导出。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09807-C988-4219-BA27-EE9A9B0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0"/>
            <a:ext cx="2076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EB934-17EC-43ED-AFA4-FAECB9B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PDF / DOCX / TXT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B93E4-CD1C-4937-9BC6-EF8BBCC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429250"/>
            <a:ext cx="19621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C4C42-E73F-40D1-ADD9-1AE41CB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4387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组件画布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28F89-165B-4827-B81E-5DDC6940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29250"/>
            <a:ext cx="17526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153E-5436-4E84-B86D-822EFC1F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38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rPr>
              <a:t>版本快照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7A3B2-6941-408F-B8CF-202D00B5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429250"/>
            <a:ext cx="4524375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0E513-2A53-4860-AF5C-9BEEA70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438775"/>
            <a:ext cx="4371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rPr>
              <a:t>文字 / 视觉 PDF · PNG · Word</a:t>
            </a:r>
          </a:p>
        </p:txBody>
      </p:sp>
    </p:spTree>
    <p:extLst>
      <p:ext uri="{BB962C8B-B14F-4D97-AF65-F5344CB8AC3E}">
        <p14:creationId xmlns:p14="http://schemas.microsoft.com/office/powerpoint/2010/main" val="1417715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8BC89-E649-4052-99F8-55EDFAA8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B978F-7799-436F-B128-89511A54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AI CO-PILOT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80B94-0601-4E0C-B615-5D64249C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AI 不替你虚构经历，而是重组真实价值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E9560-5A36-4E1A-9642-1629F7A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8122-6A6B-41E7-981F-178BE9C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F29D4-90AE-4848-84D3-02770D55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B75B1-84EA-4A8E-AD71-4486716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575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B498A-187C-49ED-BE9B-7976DA7C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575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D2D97-F4F0-43E0-8738-652E594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真实经历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2E6DC-83B2-47B1-A90D-A345A0E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项目、职责、成果事实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1B967-AA05-473F-8046-4A91B734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003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B3FAD-EA61-44C2-965B-57609D2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24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1165C-1D0F-4AA8-BF42-684FC3C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90750"/>
            <a:ext cx="32575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2B8AD-CF6F-45EC-B539-F001114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90750"/>
            <a:ext cx="32575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45824-0FC9-419E-A693-30DEF59F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岗位要求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E1441-2D75-4A1B-9B39-59A54A5C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57475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职责、技能、关键词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B4CE0-66B8-4FE4-BDFD-D93C72CC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A181B-1866-46DA-B188-110C38FB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C1FBF-6240-43E4-9075-B2F65341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2575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B1D7E-C312-4481-8604-3F120476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32575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D2776-CC02-4ED2-A118-465CDEE8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可采纳的建议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81966-8E4E-4798-AF95-02334CE1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57475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润色 / 纠错 / 打分 / 适配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ECE5F-04D5-4CCE-803E-8F91FAC3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924300"/>
            <a:ext cx="111156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A92E0-CA2C-4140-A144-BE8BE32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“岗位—经历”双上下文提示词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9EF94-387D-4801-9495-F2761B3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后端 AiPromptFactory 组织任务，AiHttpClient 接可配置模型端点；额度与日志统一管理。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ED547-2A66-423D-8679-D88CDA16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53100"/>
            <a:ext cx="2295525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9F186-CC33-4103-81D4-A160EE1B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rPr>
              <a:t>人工确认与最终编辑权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CA121-0043-4A83-8D66-C160E3E2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753100"/>
            <a:ext cx="20955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E59D0-722C-4131-AC08-2AECB95B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6262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模型失败时提供兜底</a:t>
            </a:r>
          </a:p>
        </p:txBody>
      </p:sp>
    </p:spTree>
    <p:extLst>
      <p:ext uri="{BB962C8B-B14F-4D97-AF65-F5344CB8AC3E}">
        <p14:creationId xmlns:p14="http://schemas.microsoft.com/office/powerpoint/2010/main" val="304535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0EB6F-16B7-4928-AEB2-17925D2E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26D47-E7DD-41A2-9FB4-814F967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CONTEXTUAL INTERVIEW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2155E-7BA9-4551-B076-686A2CC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让面试官读过你的简历，再问下一题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A8A8D-42A0-42DE-A59D-45E5A443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7A7B3-222D-47FD-BC67-549025A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ABF57-EBF9-4C13-B0F2-C0CA9892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06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92D0B-354F-4297-93E5-5D0BD191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3143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E9BF2-8EC0-4E05-9122-C9AA3F32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3143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7F344-7836-4DF0-A1A1-3178C6D0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76475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简历摘要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B2FCC-49DF-4083-8585-4A305B08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098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你实际做过什么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192D3-F005-426D-B26F-7628D6B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67075"/>
            <a:ext cx="3143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A635A-02AF-4C51-9983-2CB0307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67075"/>
            <a:ext cx="3143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6A0D9-9E5F-40A3-8DC1-26374553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00425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方向标签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748F4-7F32-4A63-9DD5-B024704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338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你准备应聘什么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7EE4C-AE8C-44F2-A79B-FF6D3484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91025"/>
            <a:ext cx="3143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90144-7229-4D8B-B8C6-EE28CBCA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91025"/>
            <a:ext cx="3143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7A66A-5B45-49E5-A6AF-FE04BA9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历史问答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594EC-31E2-4FCF-93B9-F2B804A3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577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刚才如何回答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1A621-6DE9-45DC-BD47-26698776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62375"/>
            <a:ext cx="981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1AE6A-096F-4BFF-874E-495C5E5C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86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79072-7752-4EB4-AE19-67C0CE52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43175"/>
            <a:ext cx="2886075" cy="266700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23021-E38C-436A-99F2-31347C7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28925"/>
            <a:ext cx="904875" cy="904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D6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6FC79-0BC6-45BD-A3C1-51B89C22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847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0F176D-02DE-4346-B44E-33FD1DF5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48125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上下文追问引擎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8EDF58-CC0A-4EBD-AF9F-314AF42B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148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动态问题 + 结构化评估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A0801D-DF10-4194-93C6-B062D11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623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606949-7AAC-4BC2-B92A-3BA76CDB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2F929-D277-485F-A4FE-EC917E6E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28950"/>
            <a:ext cx="2457450" cy="1590675"/>
          </a:xfrm>
          <a:prstGeom xmlns:a="http://schemas.openxmlformats.org/drawingml/2006/main" prst="roundRect">
            <a:avLst>
              <a:gd name="adj" fmla="val 838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FDAA93-5967-46C9-A7BB-2948C947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28950"/>
            <a:ext cx="24574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73791-2B49-409D-993C-2B8E9DE3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6230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逐题反馈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7E6B6-386F-490D-80D7-8F2A536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95675"/>
            <a:ext cx="2190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建议 · 综合分 · 能力分布</a:t>
            </a:r>
          </a:p>
        </p:txBody>
      </p:sp>
    </p:spTree>
    <p:extLst>
      <p:ext uri="{BB962C8B-B14F-4D97-AF65-F5344CB8AC3E}">
        <p14:creationId xmlns:p14="http://schemas.microsoft.com/office/powerpoint/2010/main" val="1812340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ACD7D-8EF2-4F15-9DA1-491723A5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2D545-5BA5-47B9-8AD8-9ED745BA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MULTIMODAL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22A01-F6EE-47F7-B138-AAB41FC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双引擎识别 × 双通道播报，构成自然对话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A4A68-DE3E-4619-A449-E6D0E0E6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E2448-4916-4174-A174-6AF2A2E0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9E403-A3D3-4BDA-AD5C-0964E78A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07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26795-7329-40ED-8DA6-71C174E8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95500"/>
            <a:ext cx="5334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6FE56-2784-41B6-974C-E3B413A6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95500"/>
            <a:ext cx="47625" cy="15049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F18A8-7E9F-40CD-A38A-10505B3D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66950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听得懂：双 ASR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8BD50-0309-4D8C-8D2D-B23816C4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24150"/>
            <a:ext cx="4876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桌面原生识别 + 云端讯飞流式 ASR；兼顾接入轻量与移动端覆盖。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54EEA-D5F8-462B-AA1E-1DAFD3DB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55245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3FA92-FC5B-4C26-9E65-4D8134AB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7625" cy="15049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CCF09-015C-4699-ABBA-ED334667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506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说得出：双 TTS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3AC97-1A2A-4BA2-BFEC-FF85EEB7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6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云端神经音色 + 浏览器 SpeechSynthesis；云端不可用时降级。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DA852-52A9-4381-89ED-64194EC3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48100"/>
            <a:ext cx="53340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9191F-16B6-48C8-BA40-43913254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48100"/>
            <a:ext cx="47625" cy="15049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A83E9-61EC-49FF-98EB-1831958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19550"/>
            <a:ext cx="4876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接得住：自动断句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CC7A4-3A2E-4EF5-8DB2-C1B650D8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76750"/>
            <a:ext cx="4876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Web Audio 计算 RMS；开口后连续静音触发收音与提交。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6D0D8-2742-4DF8-8986-83A124AA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55245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B57C-1BB3-43CD-9259-D0A9387F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47625" cy="15049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05EC0-EBDF-45D1-AF9F-011BA14E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506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不打架：状态编排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77712-9FE4-44F2-BCE9-CF432556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506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TTS 串行队列与代次取消；播报结束才进入自动聆听。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D1389-AF31-4840-B96C-2E00D693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150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语音能力受浏览器、网络、麦克风权限与云端服务配置影响。</a:t>
            </a:r>
          </a:p>
        </p:txBody>
      </p:sp>
    </p:spTree>
    <p:extLst>
      <p:ext uri="{BB962C8B-B14F-4D97-AF65-F5344CB8AC3E}">
        <p14:creationId xmlns:p14="http://schemas.microsoft.com/office/powerpoint/2010/main" val="1299153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2E75E7-6AF2-4537-8B73-8587FC5B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AAC29-6E84-44E9-B30B-26ACE6A9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FEEDBACK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CB066-5E60-4F5D-A940-35350E32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每次练习都有证据，每次反馈都有下一步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790D-416B-49D2-848E-1C384A46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6399A-4F1B-465A-9E72-077FA232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07D48-DDB0-4544-A81E-87C4715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08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4D6C2-4ACC-4C29-8237-9A829B8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14550"/>
            <a:ext cx="5010150" cy="357187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0CA6-64E4-41EF-BF64-3ABD9A2C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综合能力画像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C6822-4922-4EC1-A6BC-89042A7E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90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内容完整度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FAEAA-5776-4387-87ED-27510F4D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28950"/>
            <a:ext cx="24765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633B-0C75-4138-A0A0-A0B4662B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28950"/>
            <a:ext cx="203073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A17E3-98D6-4B93-AA69-AE17FD9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81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岗位相关性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9339D-CE89-46EC-A52C-8C3234C7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19500"/>
            <a:ext cx="24765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962CF-8F99-41AE-9CD9-962A405C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19500"/>
            <a:ext cx="173355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5BF7E-217D-492C-A3C7-417CF42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表达节奏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B62F1-8675-4BB6-A930-D8B6069A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10050"/>
            <a:ext cx="24765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19227-BE81-4888-9346-A57EC8C1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10050"/>
            <a:ext cx="156019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0E1EB-E7EA-42FF-9F05-3EE7443E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62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问题回应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28411-5722-4C25-B167-BF07A509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00600"/>
            <a:ext cx="24765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FDBD8-AB62-4C34-A165-E4FAF8A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00600"/>
            <a:ext cx="183261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A6E4D-A511-467E-AF20-5FECEFD9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743575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6FF61-9FE9-4FF7-AFC5-EF8EBB4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7435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6F95F-2639-4D4C-AF43-B1791D5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逐题点评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93240-1E86-4FBA-B7CC-0FA18628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00325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回答亮点 · 薄弱点 · 改进建议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5013C-AF29-4581-ADDA-709CE583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43275"/>
            <a:ext cx="5743575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F6B42-6349-49EE-8548-AE680A3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43275"/>
            <a:ext cx="57435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F5308-364F-4B17-BCE0-7C106249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76625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表达力分析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CE904-FC4A-40DD-93C4-48BDBD60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语速估计 · 填充词 · 作答完整度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B1923-104F-4C73-9DBE-E7D6D1D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5743575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803F6-E692-43B2-85F1-8CD4DADF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57435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9C6094-947E-4E2F-B94B-558643D1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86300"/>
            <a:ext cx="547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回到简历版本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813F60-6585-4BCC-B551-2CAB55EB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19675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把面试里的薄弱表达改回简历与下一轮回答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9E0DD-DE8F-4E10-BD30-60135BB7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740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上图为报告维度示意，非实际用户测试数据。</a:t>
            </a:r>
          </a:p>
        </p:txBody>
      </p:sp>
    </p:spTree>
    <p:extLst>
      <p:ext uri="{BB962C8B-B14F-4D97-AF65-F5344CB8AC3E}">
        <p14:creationId xmlns:p14="http://schemas.microsoft.com/office/powerpoint/2010/main" val="1009002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82E028-4CFD-40F1-B360-F60D3A2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4F00B-39AA-4091-87B1-6D4B9BB8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64687-697D-4957-80F0-4F4E7FF0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平台全景：资产、智能、语音与运营统一编排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D7148-7233-4FE9-ACF2-74BDFD5A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1FB85-420F-4F94-8C66-FF6BD194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687D1-E7F8-40DA-AA3B-A50AF57F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09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6A67B-1E31-4893-85AD-7D16794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13906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119AC-A974-499E-A850-C7BB834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47625" cy="7334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EADE0-B11B-4D25-9663-9946238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81225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交互入口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F2CBA-C347-444A-BB7C-7AA5A110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3906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ABC51-30C6-40E2-8317-A02DEFC3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47625" cy="7334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60012-1257-4671-B4CB-792D6520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rPr>
              <a:t>业务编排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872E1-0310-4A7E-B4D2-FF417F56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3906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A1E19-1CA7-4C46-9F3D-14FE7545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7625" cy="7334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E3FAD-9FF6-4003-B48B-D83BAC5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智能引擎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B885F-9B3F-415B-BF7A-DEA38E0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3906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1727D-C89B-4C73-BCB6-478BFD0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47625" cy="7334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758C0-62DD-412C-B041-5D7D950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95825"/>
            <a:ext cx="109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rPr>
              <a:t>数据底座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0B9AF-B232-4DAC-8CE3-26F9496D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907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A5116-19D7-430E-BDE5-175552FC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简历工坊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BEFCC-BCBF-400C-A997-5A027C4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编辑 / 版本 / 导出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ADE54-4557-45FC-8363-B2EB3893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907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7991A-EFC8-4F40-8FA9-64491D4D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面试舱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BD475-1413-42DB-934D-C45495EE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语音 / 文字 / 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5EB48-81D8-4D65-A834-696A2579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907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2992F-3AB0-4F33-BF31-DB4D56A6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模板与社区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FFB06-99C9-447F-AED4-953C00C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内容供给 / 分享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4173C-A03A-4C23-904C-4D820D14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907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D8208-13A8-4D10-9D92-3EBD9D9C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076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运营控制台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5F7729-6C6D-4FDF-B587-FEA2FF2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81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配置 / 审核 / 日志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59A4CA-B0F0-4E3A-87DC-E98E0D82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289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80696-9620-43B9-B4E6-C98747C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14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接入治理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983B81-B02C-4B05-A698-19F88B5E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路由 / Session / 限流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07807A-DD73-472B-85C7-B6AF8530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289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61D941-55AA-4607-8A1C-173D92C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14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业务服务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53887-3DDB-4FC7-87A0-9FBDFC9F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Resume / Interview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11917-BF05-4719-A6B8-ED6D2940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2387E0-CCB9-427A-9416-F93A4C53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14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权益裁决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698F54-90A0-40B8-907E-263AE9E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Quota / Member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935E2C-3C59-4794-A2B2-11D78969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289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F8D915-B2C7-40EB-AC27-8823E83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14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开放接口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1A87D0-D1AB-4C8B-9AF3-01E308E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19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REST / OpenAPI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94FCEE-8D25-4684-8E3F-5C7F3C38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671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D9BE11-9B6E-4584-9309-92B5AC6E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752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提示词编排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A0D660-F511-4064-B22D-F248E244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AiPromptFactory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947180-DA82-49B2-BE5D-B6B2070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A402ED-3E87-434E-B0DD-C3BF475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52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模型适配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990ABB-8F9B-4050-9201-172998E4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AiHttpClient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C2CE6B-2378-42C2-9C48-698E0D7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671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041B70-4148-4C4A-A111-4C1CB34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52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语音适配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3B1D6F-CE9A-432C-946C-4AA04C44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讯飞 ASR / 云 TTS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9F81D9-F5CF-4690-9C84-9837D229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4650EF-E297-4EB7-999F-DE3B4BD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752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交互降级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1B9F68-6773-4665-AFC0-373CF43C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本地题 / 浏览器 TTS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92E326-52AF-4F06-9B63-80803DF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53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5B11B9-C101-4D43-BBC6-A63A0971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59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持久化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47580B-DDDF-41D2-A982-09C625D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895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JdbcTemplate / MySQL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C593DD-030D-4FD0-A7B6-DFEC18A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053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C57C2D-F692-4038-A433-401A43BA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9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版本迁移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C85505-7E87-479E-A263-568C4140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95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Flyway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B2C63ED-CE05-4819-A05A-135AB18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053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DC5788-6C90-4551-8900-7AE9D2F4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59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审计记录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060849-D2A4-417A-8B14-5C64F8A9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95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调用 / 额度 / 导出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7079CA-7E11-4C31-B978-DFE419E3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05325"/>
            <a:ext cx="22669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B4EFD2-ACF1-4018-BD8F-C2612E1B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59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部署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B564AE-7CB0-4705-BF14-6A71102C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895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Docker / Nginx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5989A7-B7D8-4AA9-BAC9-5A7F21F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241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8B3838-02EA-4A1E-9FDD-89B3C4A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3D5173-4E6D-4AB5-8925-A1B4C7B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32A304-9128-4361-BA67-AB649D0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241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17C5A8-81EC-4C28-AAF3-C5929DB7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B4C966-561E-49E3-A213-502FBD13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623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FEC635-2E2A-446B-ABCA-6DAFDCA0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86C2BA-617C-45CD-BC1C-4C7794BA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623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EE5AEA-D653-4340-BBA9-53A71933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9985EF-ECD3-43A6-987B-8B77AD6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005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094468-6418-449E-88C9-579D925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DA2E89-3986-4986-85E2-CD3F878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005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9B031F-A382-4EFB-ADD6-AA8C9D98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06150" cy="581025"/>
          </a:xfrm>
          <a:prstGeom xmlns:a="http://schemas.openxmlformats.org/drawingml/2006/main" prst="roundRect">
            <a:avLst>
              <a:gd name="adj" fmla="val 21311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6F17E6D-ABBC-493F-A57E-1BD889A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安全横切：BCrypt · 用户/管理员独立会话 · 资源归属校验 · 后端密钥管理 · 额度与调用日志</a:t>
            </a:r>
          </a:p>
        </p:txBody>
      </p:sp>
    </p:spTree>
    <p:extLst>
      <p:ext uri="{BB962C8B-B14F-4D97-AF65-F5344CB8AC3E}">
        <p14:creationId xmlns:p14="http://schemas.microsoft.com/office/powerpoint/2010/main" val="1667347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71B986-9C24-47CB-A66D-7DB36D5A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33275-EDCF-4CFE-8632-325EE900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VOICE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A046B-FDA0-44B8-92DB-0921685C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语音面试引擎：一条可降级、可打断的状态链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E38D-644C-4DB3-B32C-CA42AA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A3D03-65CF-4893-A298-239444C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191CE-97B2-4F8B-BB71-F03BFC03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10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465D4-D4A5-499E-84C8-262843E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981200"/>
            <a:ext cx="11096625" cy="923925"/>
          </a:xfrm>
          <a:prstGeom xmlns:a="http://schemas.openxmlformats.org/drawingml/2006/main" prst="roundRect">
            <a:avLst>
              <a:gd name="adj" fmla="val 13402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DB66F-B1E6-460B-8D86-98FF08BC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输入面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442CE-38CC-400E-80C7-117FAC5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2095500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394E8-88AF-42C7-A9A2-D6D86E1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20955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A1BD9-9FA1-4B8D-B9F7-BE6427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9800"/>
            <a:ext cx="182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麦克风采样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D1507-5B02-401F-BF87-B1D86BCE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43175"/>
            <a:ext cx="1828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getUserMedia / Web Audio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AA01E-0A4F-4AB2-BBA9-95AEF2F2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479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8C6D8-CB7E-4F90-A9D8-829B027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71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6C4A2-0964-42E6-A847-8603C7A3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76450"/>
            <a:ext cx="2266950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913F5-4825-4A98-AC6B-0493286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76450"/>
            <a:ext cx="22669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45040-7A33-4681-BD8D-C79480B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0980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VAD / PCM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6A431-9970-4B02-AF88-FB508D33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2000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RMS · 静音断句 · 16 kHz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6A385-CC6D-4021-8FEE-D438725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BC6F2-F149-42C6-B4BB-9EFB8507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71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E1289-5CCA-4CC4-8745-A954F3BC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009775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77381-558C-40BD-BA9F-F020BFBE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0097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62DCF-2CC4-426A-9B93-89921626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ASR 双引擎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52F8A-088A-4E9C-BC99-FAE9663A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43175"/>
            <a:ext cx="1743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浏览器 / 讯飞云端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4DCAF-4257-4025-A50D-6B611F3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479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F6F5B-B8B0-498B-BD3D-24BCD0B0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71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59DB3-B108-4746-BDE7-AB78B308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76450"/>
            <a:ext cx="1790700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67D85-737B-4D80-A71D-3C4FC4F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76450"/>
            <a:ext cx="17907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BFF0BF-5ABF-49A6-812C-BEDEA99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2098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文字修正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F1F76-56A4-4DB2-89DF-0A137ADB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43175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人工 / 自动提交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09BE1-26A5-4AFC-ABF5-EAD278D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38475"/>
            <a:ext cx="11096625" cy="1104900"/>
          </a:xfrm>
          <a:prstGeom xmlns:a="http://schemas.openxmlformats.org/drawingml/2006/main" prst="roundRect">
            <a:avLst>
              <a:gd name="adj" fmla="val 1120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D5F3CE-0506-4986-BC3D-01ECBE8B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527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决策面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FAB27-AC35-4083-B31C-13350624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22669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EA6386-22C9-47E4-9426-C1A1D3DE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22669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8B84F6-BE75-4D36-907D-880F827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956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简历上下文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99CC3-2D89-4243-8C72-AAD00CB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2902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摘要 + 岗位 + 历史问答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5092A-1F2B-49B8-9822-1042EBE4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90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18A3D0-9A3D-4096-925D-98A993D5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14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8000EA-DE81-4B52-AD9B-D69548A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2962275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AF4ADE-2FB3-4890-9A07-95C6E5E1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29622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5505AD-A516-4DD6-8F3D-252E0F7F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AI 面试服务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E77987-E9E7-492F-93DC-C87C507F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2695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动态追问 / 结构化评分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EB7C9F-A0F7-45FC-B34F-2E75038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909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CA72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9F9453-5B50-4956-B952-F3E492B1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14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B83C43-6055-4FBE-BF58-8F628A05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3190875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5FE32D-E859-4C4C-B9FB-579CD580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31908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D6A581-4878-4027-A436-8DAEC37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924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报告生成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EC823A-58CC-4948-80F4-65DAE7CC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29025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逐题反馈 + 能力雷达 + 表达力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9F73CC-1596-4DBB-A6D2-21B92A4E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67200"/>
            <a:ext cx="11096625" cy="1066800"/>
          </a:xfrm>
          <a:prstGeom xmlns:a="http://schemas.openxmlformats.org/drawingml/2006/main" prst="roundRect">
            <a:avLst>
              <a:gd name="adj" fmla="val 1160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6ACB71-604B-493D-ADBF-6126471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rPr>
              <a:t>输出面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9C8543-22C4-41EB-8C65-1EA19494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24765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2A4B57-9CEC-47A8-8082-C51B5A6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24765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47125B-FDD1-45F6-B86E-A4B57A2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TTS 播报队列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8D44D2-F762-420A-9C00-7E756E6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672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代次取消过期播报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89911A-A692-44E6-9741-D0F638C8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720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5C648D-E761-4291-9343-B40A90A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95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F0C90B-E8A7-4DD7-8CFE-CD9E5C7B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95275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FA3F4F-F8B2-4CFF-8F45-2BF4B96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9527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50205F-7AA9-4918-9578-9E40C6F8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8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双通道合成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95E349-ADCA-41A8-BEDF-284D9B61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672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云端神经音色 / 浏览器本地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E6C3D1-17AF-4930-B76A-2C6213FF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720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660DF4-2742-4EF5-B7D1-B35ED37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95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E1C81E-D188-4B23-B571-F7607FD2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3190875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CF5A34-D667-4CDC-8121-AE81993E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319087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124AAB-CA88-48F2-9755-A65E0B3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2924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状态机重新开麦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0EEA73-9FE4-4622-990C-3E611697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67275"/>
            <a:ext cx="2924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播报完毕 → 待答 → 聆听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51C613-A751-4782-A4BE-1E14DE2C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29275"/>
            <a:ext cx="11096625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4F4BB8-38E3-40B0-B4D8-057D1BA4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异常恢复：模型问题/评估本地兜底 · 云 TTS 失败回退 · 语音输入不可用改文字作答</a:t>
            </a:r>
          </a:p>
        </p:txBody>
      </p:sp>
    </p:spTree>
    <p:extLst>
      <p:ext uri="{BB962C8B-B14F-4D97-AF65-F5344CB8AC3E}">
        <p14:creationId xmlns:p14="http://schemas.microsoft.com/office/powerpoint/2010/main" val="1752449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8413D1-02EF-408C-B06B-CB273833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1FE57-260B-470B-B79E-023E9CC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DATA &amp;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B5022-DA8B-413E-A863-2226B9E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能反复迭代，靠的是版本化资产与权限边界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94FC7-584C-4E7F-AFBC-C5347EE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0CA7F-D6F2-4207-B187-482855ED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9D50C-646F-44AD-B95B-AE6E96D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11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8D27A-FFB6-4456-A2B8-04C91901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76500"/>
            <a:ext cx="260032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136D9-F77F-4B88-ACC8-26B4466C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76500"/>
            <a:ext cx="26003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C9A9-C067-448A-9574-1075B637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98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用户身份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47D85-B7B2-418E-8E1C-A9C02F4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43225"/>
            <a:ext cx="2333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BCrypt · 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E4D05-713F-4578-9893-A956F5F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260032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F819F-914F-432C-88E0-53B4DC0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26003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18C45-0338-4DDD-A011-84B1A985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098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简历资产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21B7D-1DAC-4CD4-8BF6-6D302F5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43225"/>
            <a:ext cx="2333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JSON 快照 · 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0AAFC-DAC5-4638-8D1B-A2663A31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76500"/>
            <a:ext cx="260032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DC519-5522-42DF-9463-144FD4B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76500"/>
            <a:ext cx="26003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F1416-38BD-4246-98AE-79D922C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面试记录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1258A-9781-4128-AF79-A470775F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43225"/>
            <a:ext cx="2333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问答 · 评估 · 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0740E-741D-42ED-92FE-FB51785B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76500"/>
            <a:ext cx="260032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CAE35-FB90-41CE-AA80-97FCBD0A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76500"/>
            <a:ext cx="2600325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391AA-1023-49C2-B1F5-AE0BEBD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098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运营记录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72E46-2A8F-42C7-871C-4A2216E0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43225"/>
            <a:ext cx="2333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额度 · AI · 导出日志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AAE47-62F6-4B4D-926C-7AD72E35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3372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C4D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AA374-C68B-4BDF-9BC5-2EE7BCC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575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C4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0C6CC-A68D-4476-8A47-6D1BAE38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3372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C4D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D2732-A513-4A0C-8B9E-030809C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575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C4D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93DA9-019B-4A1A-9E6C-3A13EBB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33725"/>
            <a:ext cx="66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C4D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3780D-F1E0-4CBB-9121-2B21E756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575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C4D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2FB73-34FE-4636-83E9-EB8591DC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52959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9C909-D6FC-4210-8A6C-4C5CD7C7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7625" cy="1219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6DBE19-224F-405F-BB90-493E455D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838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可恢复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CFD69-441E-4B37-A8B7-5466E9F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草稿、历史版本、对比回滚与分享令牌。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1192F-CADF-42F3-94A9-08422A60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38650"/>
            <a:ext cx="55435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B1CD5F-6D8A-4E36-A122-87D66BE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38650"/>
            <a:ext cx="47625" cy="1219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6CB916-C94D-4771-9C9F-33D60F52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5086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可信边界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58055F-F530-44CF-9011-BC84C288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67300"/>
            <a:ext cx="508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服务端归属校验、管理员独立会话、后端保管供应商密钥。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EBCD2F-8D38-4D7F-8F8D-84283689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0550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MySQL + Flyway；核心业务 SQL 访问采用 JdbcTemplate。</a:t>
            </a:r>
          </a:p>
        </p:txBody>
      </p:sp>
    </p:spTree>
    <p:extLst>
      <p:ext uri="{BB962C8B-B14F-4D97-AF65-F5344CB8AC3E}">
        <p14:creationId xmlns:p14="http://schemas.microsoft.com/office/powerpoint/2010/main" val="6521145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FD1D2-CA42-4539-8F9A-55180765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91906-4E47-4DE8-AE2E-D83034CA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7E620-C8E6-4715-98C8-1CE78EE9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不仅能做作品，也具备持续运营的产品底座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B4E64-831C-4D43-A1AF-872DDBF9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9A3E3-1FD1-4D87-AE6D-653DD8C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1E506-9A08-4F6F-8633-BBC149FE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12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7F0B9-1FC0-4FBB-B583-F93AAD7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110871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22AB0-B81B-4712-8C87-73FF93F8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66675" cy="10953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EDFB3-6147-49BB-8BEF-A69570B3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内容飞轮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680D3-6D16-4B90-BB2B-B6F483C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750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模板 / 案例 / 教程 / 审核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A81F0-5053-4BD7-AF12-9818943F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38425"/>
            <a:ext cx="767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让用户有可借鉴的表达样例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5855D-8C40-488D-8C81-89275AA4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10871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3409C-1D94-4D17-9009-D52339D9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66675" cy="10953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BDFE3-B4A5-44F1-9D3E-F4E01259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权益体系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9E07E-2818-4DD2-899A-F742DFF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14725"/>
            <a:ext cx="750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会员套餐 / 兑换码 / 配额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578F3-7A5C-4960-B052-80434D43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43350"/>
            <a:ext cx="767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让 AI 与面试能力可被规则化管理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8B469-EB37-4D64-8C21-EE171EDC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110871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55340-E60C-4A5F-9A7A-B28EC519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66675" cy="10953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4E747-EE5F-44D2-A1EA-6FC8C38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运营控制台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EA8D4-A1F5-4C7F-9A49-6BAD6D7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750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rPr>
              <a:t>用户 / 面试 / 订单 / 公告 /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03586-0075-4FCB-A023-D52F88B6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48275"/>
            <a:ext cx="767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让产品能力随场景配置与治理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6F913-61D9-4274-ACF5-549EF73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05525"/>
            <a:ext cx="11087100" cy="2381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C7240-76EC-4FEE-9944-6D2A08B9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会员与额度是可配置的增值能力底座；真实支付与增长效果仍需上线验证。</a:t>
            </a:r>
          </a:p>
        </p:txBody>
      </p:sp>
    </p:spTree>
    <p:extLst>
      <p:ext uri="{BB962C8B-B14F-4D97-AF65-F5344CB8AC3E}">
        <p14:creationId xmlns:p14="http://schemas.microsoft.com/office/powerpoint/2010/main" val="14079014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8A349-7AA4-45B8-8F80-A0CDF040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13EC8-79FB-46F1-88F1-60A99A4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B1B26-E8F6-4925-8E84-B62D9BD7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竞赛展示：技术深度有代码，验证边界说清楚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6A2E6-435B-4C7E-A53D-F90A2FA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EE102-D9F7-465A-A930-C64AC42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CC9A2-A41A-4CC3-9431-4E022D7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13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DE848-DABE-4385-853C-7912B3CF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47875"/>
            <a:ext cx="5019675" cy="2962275"/>
          </a:xfrm>
          <a:prstGeom xmlns:a="http://schemas.openxmlformats.org/drawingml/2006/main" prst="roundRect">
            <a:avLst>
              <a:gd name="adj" fmla="val 6431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04D3C-7F01-486F-BFCB-FF00A08D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19350"/>
            <a:ext cx="3429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67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D049C-D0FB-4EC1-A1B8-F130B63E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4200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后端单元测试通过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AB6A1-09AB-4181-9DA3-8EC782F1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415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24 项发现 · 19 通过 · 5 跳过 · 0 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010FA-692C-4974-835C-12AD2FB4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57400"/>
            <a:ext cx="57340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7BA21-AD7A-4CFA-BB39-F7259CA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57400"/>
            <a:ext cx="47625" cy="1381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13C4F-FB69-4D4F-A2DB-BAAD583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28850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已有证据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48C64-1A8C-47F4-9794-E8237BB0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86050"/>
            <a:ext cx="5276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核心业务规则覆盖账号、简历归属、额度与兑换码；代码有完整前后端链路。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84DD2-BA27-4527-9E46-993AEB1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19500"/>
            <a:ext cx="57340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1EDCF-C024-4CEB-9AC9-34E13DE0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19500"/>
            <a:ext cx="47625" cy="1381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2EC72-405C-4435-8803-58F31969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90950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赛前补齐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302B1-C458-42C4-AE1F-AB56538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48150"/>
            <a:ext cx="5276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隔离 MySQL 集成测试、前端构建、真实 AI/ASR/TTS 与跨端验收。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00957-BE94-4736-BA8C-B420DAB9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245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5 项安全链路集成测试被显式跳过；本页数字来自文档所述 Surefire 报告。</a:t>
            </a:r>
          </a:p>
        </p:txBody>
      </p:sp>
    </p:spTree>
    <p:extLst>
      <p:ext uri="{BB962C8B-B14F-4D97-AF65-F5344CB8AC3E}">
        <p14:creationId xmlns:p14="http://schemas.microsoft.com/office/powerpoint/2010/main" val="18195144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AD631E-819C-462F-AB4B-9C904886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66675" cy="342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2483D-7A8D-4EC0-9759-0FC13D86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EVOLUTION · PLANNED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A686E-7058-4559-92A5-B9AD291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下一程：从多模态交互，走向证据驱动的求职智能体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CA3E6-443D-40D9-8308-1FF6408C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DD597-31CB-41D8-A0FB-E99C849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履历星图  ·  求职能力成长平台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330F-C137-4589-8E7A-E976CB74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674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14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6B5E8-1E3E-479A-8BF3-FCDC8A5F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09825"/>
            <a:ext cx="2590800" cy="2486025"/>
          </a:xfrm>
          <a:prstGeom xmlns:a="http://schemas.openxmlformats.org/drawingml/2006/main" prst="roundRect">
            <a:avLst>
              <a:gd name="adj" fmla="val 61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28151-BD90-40CC-A24A-20EC120E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09825"/>
            <a:ext cx="25908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AB143-06BD-42C9-92E9-8D7F718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57475"/>
            <a:ext cx="10668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79339-6109-453E-AEE7-124C483B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现在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F4857-4049-4407-8961-87D9D300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337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结构化简历 + 语音面试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8A117-0A85-4F35-94D0-96C0F962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221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已实现的可演示闭环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B0DF8-03FD-4D62-9621-3604B04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385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D6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B8BF5-3F6C-40E8-933D-4338E576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2E9B8-688E-4D29-BA40-4741F4AE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9825"/>
            <a:ext cx="2590800" cy="2486025"/>
          </a:xfrm>
          <a:prstGeom xmlns:a="http://schemas.openxmlformats.org/drawingml/2006/main" prst="roundRect">
            <a:avLst>
              <a:gd name="adj" fmla="val 61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B2C33-135B-4E54-9CAE-9F9EDD74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09825"/>
            <a:ext cx="25908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61AEF-E2F2-4F01-9B70-612AA52A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57475"/>
            <a:ext cx="10668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D5DC3-81FA-4E4E-B0A5-0089E7F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8FE4BE"/>
                </a:solidFill>
                <a:latin typeface="Arial Unicode MS"/>
                <a:ea typeface="Arial Unicode MS"/>
                <a:cs typeface="Arial Unicode MS"/>
              </a:rPr>
              <a:t>里程碑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9CCA8-181F-4B7E-A172-8675A151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隔离测试 + 链路监控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BD614-194F-4E9D-98E6-AEAAD23B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221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先验证可用性与跨端体验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7B60E-FD36-4483-A481-A705944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E4B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46463-FFE1-4FC2-B9D2-48F09A99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FE4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1AB17-B0FC-4C5E-B265-8842C0FD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9825"/>
            <a:ext cx="2590800" cy="2486025"/>
          </a:xfrm>
          <a:prstGeom xmlns:a="http://schemas.openxmlformats.org/drawingml/2006/main" prst="roundRect">
            <a:avLst>
              <a:gd name="adj" fmla="val 61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6A917-1CEF-4A71-B8DE-37D9ADEC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09825"/>
            <a:ext cx="25908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48EE8-F8F6-4533-B015-F30E508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57475"/>
            <a:ext cx="10668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C574-205B-4D28-A2D4-C876BD1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670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D93FF"/>
                </a:solidFill>
                <a:latin typeface="Arial Unicode MS"/>
                <a:ea typeface="Arial Unicode MS"/>
                <a:cs typeface="Arial Unicode MS"/>
              </a:rPr>
              <a:t>里程碑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31992-9748-408F-BB2D-62604AAC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岗位 RAG + 任务工作流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730E1-DD36-466A-BC32-206540C3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86250"/>
            <a:ext cx="221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经历证据检索与人工确认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58E83-FC7D-4D61-AB2B-86F15C61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385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93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B7578-2630-42C5-8384-52B8274B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93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DB893-48EB-4D98-931A-B38500BD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9825"/>
            <a:ext cx="2590800" cy="2486025"/>
          </a:xfrm>
          <a:prstGeom xmlns:a="http://schemas.openxmlformats.org/drawingml/2006/main" prst="roundRect">
            <a:avLst>
              <a:gd name="adj" fmla="val 613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24466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A808F-FF73-4E89-82BC-850BA661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9825"/>
            <a:ext cx="25908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CA7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55793-8C37-49B3-8A10-B4368E2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57475"/>
            <a:ext cx="10668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EDDBA-282D-4035-BCBF-5342A36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914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CA72"/>
                </a:solidFill>
                <a:latin typeface="Arial Unicode MS"/>
                <a:ea typeface="Arial Unicode MS"/>
                <a:cs typeface="Arial Unicode MS"/>
              </a:rPr>
              <a:t>里程碑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104349-49B5-48F4-B109-C14211AB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22193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OCR + 流式可打断语音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953C34-BFE2-4ADD-9DB1-28166FE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219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EC4D5"/>
                </a:solidFill>
                <a:latin typeface="Arial Unicode MS"/>
                <a:ea typeface="Arial Unicode MS"/>
                <a:cs typeface="Arial Unicode MS"/>
              </a:rPr>
              <a:t>扩大输入覆盖和自然度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FDD19-6E42-4B67-AAD1-25D0CB53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248275"/>
            <a:ext cx="11096625" cy="60960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CC779F-A401-418A-BE80-E42A27C4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62575"/>
            <a:ext cx="1069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RAG、智能体、OCR 与可打断语音属于演进路线，未计入当前已实现能力。</a:t>
            </a:r>
          </a:p>
        </p:txBody>
      </p:sp>
    </p:spTree>
    <p:extLst>
      <p:ext uri="{BB962C8B-B14F-4D97-AF65-F5344CB8AC3E}">
        <p14:creationId xmlns:p14="http://schemas.microsoft.com/office/powerpoint/2010/main" val="523534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AD5CD-9F24-4434-AB29-664CDB98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661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19E14-0750-48E0-B71A-26F80105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66775"/>
            <a:ext cx="1657350" cy="1657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D6E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7258A-563D-4068-A280-184B02AD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45732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D6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8077-900E-4447-9B09-67B53D2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95325"/>
            <a:ext cx="1724025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0C1D3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9F00E-518E-4C81-9ABC-7B6B228C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048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DEMO  →  Q&amp;A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9FE67-5BE4-4350-AC53-5A98A71C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33550"/>
            <a:ext cx="92011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同一份简历，</a:t>
            </a:r>
          </a:p>
          <a:p xmlns:a="http://schemas.openxmlformats.org/drawingml/2006/main">
            <a:pPr algn="l">
              <a:defRPr sz="42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完成一次真正的闭环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2D92A-C28F-4628-AC00-50AA5026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60D6E6"/>
                </a:solidFill>
                <a:latin typeface="Arial Unicode MS"/>
                <a:ea typeface="Arial Unicode MS"/>
                <a:cs typeface="Arial Unicode MS"/>
              </a:rPr>
              <a:t>导入与编辑  →  岗位适配  →  版本对比  →  语音追问  →  能力报告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0703B-7DD3-4082-94BA-EC88B268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785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6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5CFAF-B870-4056-8F4B-7746B8E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6FAFF"/>
                </a:solidFill>
                <a:latin typeface="Arial Unicode MS"/>
                <a:ea typeface="Arial Unicode MS"/>
                <a:cs typeface="Arial Unicode MS"/>
              </a:rPr>
              <a:t>让每一次表达，都比上一次更有依据。</a:t>
            </a:r>
          </a:p>
        </p:txBody>
      </p:sp>
    </p:spTree>
    <p:extLst>
      <p:ext uri="{BB962C8B-B14F-4D97-AF65-F5344CB8AC3E}">
        <p14:creationId xmlns:p14="http://schemas.microsoft.com/office/powerpoint/2010/main" val="76880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2026-09-24T12:18:38.8020000Z</dcterms:created>
  <dcterms:modified xsi:type="dcterms:W3CDTF">2026-09-24T12:18:38.8020000Z</dcterms:modified>
</coreProperties>
</file>